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80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73152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21A"/>
                </a:solidFill>
              </a:rPr>
              <a:t>PROJEKTARBEIT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Skateboard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93852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4F7"/>
                </a:solidFill>
              </a:rPr>
              <a:t>Konstruktion &amp; Baugruppenmodellierung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6E4F7"/>
                </a:solidFill>
              </a:rPr>
              <a:t>mit Siemens NX 2412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4389120" cy="0"/>
          </a:xfrm>
          <a:prstGeom prst="line">
            <a:avLst/>
          </a:prstGeom>
          <a:noFill/>
          <a:ln w="19050">
            <a:solidFill>
              <a:srgbClr val="E88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80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C"/>
                </a:solidFill>
              </a:rPr>
              <a:t>Erstellt:  </a:t>
            </a:r>
            <a:r>
              <a:rPr lang="en-US" sz="1100" b="1" dirty="0">
                <a:solidFill>
                  <a:srgbClr val="FFFFFF"/>
                </a:solidFill>
              </a:rPr>
              <a:t>Praveen Venkatesh Sethumadhavan Vasan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8CC"/>
                </a:solidFill>
              </a:rPr>
              <a:t>Dozent:  </a:t>
            </a:r>
            <a:r>
              <a:rPr lang="en-US" sz="1100" dirty="0">
                <a:solidFill>
                  <a:srgbClr val="FFFFFF"/>
                </a:solidFill>
              </a:rPr>
              <a:t>Michael Böckle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8CC"/>
                </a:solidFill>
              </a:rPr>
              <a:t>Zeitraum: </a:t>
            </a:r>
            <a:r>
              <a:rPr lang="en-US" sz="1100" dirty="0">
                <a:solidFill>
                  <a:srgbClr val="FFFFFF"/>
                </a:solidFill>
              </a:rPr>
              <a:t>11.05.2026 – 03.07.2026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8CC"/>
                </a:solidFill>
              </a:rPr>
              <a:t>Schule:   </a:t>
            </a:r>
            <a:r>
              <a:rPr lang="en-US" sz="1100" dirty="0">
                <a:solidFill>
                  <a:srgbClr val="FFFFFF"/>
                </a:solidFill>
              </a:rPr>
              <a:t>alfatraining Bildungszentrum GmbH</a:t>
            </a:r>
            <a:endParaRPr lang="en-US" sz="110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1284136"/>
            <a:ext cx="3840480" cy="2552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Inhaltsverzeichnis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E882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1A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Einführung &amp; Projektziel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1A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Einzelteile – Part Design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1A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9260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Unterbaugruppen – Achse &amp; Rad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1A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886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Gesamtbaugruppe – Assembly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1A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1005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Montage- &amp; Demontagesequenz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0116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1A"/>
                </a:solidFill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1965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Zeichnungsableitung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9718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1A"/>
                </a:solidFill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29260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Kollisionsprüfung &amp; Klon-Baugruppe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931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1A"/>
                </a:solidFill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3886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Ausblick: FEM-Analyse &amp; Digital Twin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— EINFÜHRUNG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ein Skateboard?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463040"/>
            <a:ext cx="36118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821A"/>
                </a:solidFill>
              </a:rPr>
              <a:t>Motivation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D6E4F7"/>
                </a:solidFill>
              </a:rPr>
              <a:t>Alltagsgegenstände wie ein Skateboard erscheinen einfach — doch dahinter steckt durchdachte Ingenieursarbeit. Dieses Projekt zeigt, wie ein reales Produkt vollständig in CAD konstruiert, zusammengebaut und dokumentiert werden kann.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3264408"/>
            <a:ext cx="36118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821A"/>
                </a:solidFill>
              </a:rPr>
              <a:t>Was ich gelernt habe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D6E4F7"/>
                </a:solidFill>
              </a:rPr>
              <a:t>• Wie alltägliche Systeme wirklich konstruiert sind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D6E4F7"/>
                </a:solidFill>
              </a:rPr>
              <a:t>• Aufbau komplexer Baugruppen &amp; Unterbaugruppen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D6E4F7"/>
                </a:solidFill>
              </a:rPr>
              <a:t>• Realitätsnähe: Toleranzen, Passungen, Funktion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D6E4F7"/>
                </a:solidFill>
              </a:rPr>
              <a:t>• Montageprinzipien &amp; CAD-Arbeitsweise</a:t>
            </a:r>
            <a:endParaRPr lang="en-US" sz="120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0" y="1691458"/>
            <a:ext cx="4480560" cy="274356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EINZELTEILE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Design – Einzelteile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659051"/>
            <a:ext cx="1051560" cy="3852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89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Skateboard Platte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08760" y="175564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Trägerfläche für Fahrer &amp; Gesamtaufbau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Nose/Tail-Kickup für Manöver · Montagepunkte für Trucks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1298448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45532" y="1371600"/>
            <a:ext cx="1035616" cy="960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1389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Achse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434840" y="175564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Verbindet Auflager mit Radachse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Kugelkopf ermöglicht Lenken durch Kippbewegung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72200" y="1298448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63640" y="1461684"/>
            <a:ext cx="1051560" cy="7799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1389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Auflager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360920" y="175564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Montagebrücke zwischen Deck &amp; Achse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Überträgt Lenkbewegung · schraubt ans Deck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0040" y="3127248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2763" y="3200400"/>
            <a:ext cx="1008993" cy="9601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2186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Rad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508760" y="358444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Kontaktfläche zum Boden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Weich für Grip · nimmt Kugellager auf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46120" y="3127248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37560" y="3371628"/>
            <a:ext cx="1051560" cy="61766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34840" y="32186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Radachse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434840" y="358444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Verbindet Rad-Baugruppe mit Achsarm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Gestufter Bund positioniert Kugellager axial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172200" y="3127248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5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63640" y="3266731"/>
            <a:ext cx="1051560" cy="82745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60920" y="32186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Gummibuchse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7360920" y="358444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Dämpft Stöße zwischen Achse &amp; Auflager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Hart genug für Lenkpräzision · weich genug für Dämpfung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320040" y="457200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22375F"/>
          </a:solidFill>
          <a:ln/>
        </p:spPr>
      </p:sp>
      <p:sp>
        <p:nvSpPr>
          <p:cNvPr id="30" name="Text 22"/>
          <p:cNvSpPr/>
          <p:nvPr/>
        </p:nvSpPr>
        <p:spPr>
          <a:xfrm>
            <a:off x="32004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709160" y="457200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22375F"/>
          </a:solidFill>
          <a:ln/>
        </p:spPr>
      </p:sp>
      <p:sp>
        <p:nvSpPr>
          <p:cNvPr id="32" name="Text 24"/>
          <p:cNvSpPr/>
          <p:nvPr/>
        </p:nvSpPr>
        <p:spPr>
          <a:xfrm>
            <a:off x="470916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3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MODELLIERUNG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Teilemodellierung –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Achse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und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Auflager</a:t>
            </a:r>
            <a:endParaRPr lang="en-US" sz="2800" dirty="0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89888"/>
            <a:ext cx="3702684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526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C"/>
                </a:solidFill>
              </a:rPr>
              <a:t>Modellierungsbaum – Achse (NX Part Navigator)</a:t>
            </a:r>
            <a:endParaRPr lang="en-US" sz="900" dirty="0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1" y="1389888"/>
            <a:ext cx="4644428" cy="3200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00600" y="4526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 err="1">
                <a:solidFill>
                  <a:srgbClr val="8FA8CC"/>
                </a:solidFill>
              </a:rPr>
              <a:t>Modellierungsbaum</a:t>
            </a:r>
            <a:r>
              <a:rPr lang="en-US" sz="900" i="1" dirty="0">
                <a:solidFill>
                  <a:srgbClr val="8FA8CC"/>
                </a:solidFill>
              </a:rPr>
              <a:t> – </a:t>
            </a:r>
            <a:r>
              <a:rPr lang="en-US" sz="900" i="1" dirty="0" err="1">
                <a:solidFill>
                  <a:srgbClr val="8FA8CC"/>
                </a:solidFill>
              </a:rPr>
              <a:t>Auflager</a:t>
            </a:r>
            <a:r>
              <a:rPr lang="en-US" sz="900" i="1" dirty="0">
                <a:solidFill>
                  <a:srgbClr val="8FA8CC"/>
                </a:solidFill>
              </a:rPr>
              <a:t> (NX Part Navigator)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— UNTERBAUGRUPPEN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Unterbaugruppen – Achse &amp; Rad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1A"/>
                </a:solidFill>
              </a:rPr>
              <a:t>Achse-Baugruppe</a:t>
            </a:r>
            <a:endParaRPr lang="en-US" sz="13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0649" y="1755648"/>
            <a:ext cx="3073582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30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Enthält: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</a:rPr>
              <a:t>• </a:t>
            </a:r>
            <a:r>
              <a:rPr lang="en-US" sz="950" dirty="0" err="1">
                <a:solidFill>
                  <a:srgbClr val="8FA8CC"/>
                </a:solidFill>
              </a:rPr>
              <a:t>Achse</a:t>
            </a:r>
            <a:r>
              <a:rPr lang="en-US" sz="950" dirty="0">
                <a:solidFill>
                  <a:srgbClr val="8FA8CC"/>
                </a:solidFill>
              </a:rPr>
              <a:t>  (Alu A356)</a:t>
            </a:r>
          </a:p>
          <a:p>
            <a:r>
              <a:rPr lang="en-US" sz="950" dirty="0">
                <a:solidFill>
                  <a:srgbClr val="8FA8CC"/>
                </a:solidFill>
              </a:rPr>
              <a:t>• </a:t>
            </a:r>
            <a:r>
              <a:rPr lang="en-US" sz="950" dirty="0" err="1">
                <a:solidFill>
                  <a:srgbClr val="8FA8CC"/>
                </a:solidFill>
              </a:rPr>
              <a:t>Auflager</a:t>
            </a:r>
            <a:r>
              <a:rPr lang="en-US" sz="950" dirty="0">
                <a:solidFill>
                  <a:srgbClr val="8FA8CC"/>
                </a:solidFill>
              </a:rPr>
              <a:t> (Alu A356)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</a:rPr>
              <a:t>• Bolzen (Stahl)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</a:rPr>
              <a:t>• Gummibuchse × 2 · Lagergummi ×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</a:rPr>
              <a:t>• M8×60 Schraube + Mutter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29844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1A"/>
                </a:solidFill>
              </a:rPr>
              <a:t>Rad-Baugruppe</a:t>
            </a:r>
            <a:endParaRPr lang="en-US" sz="1300" dirty="0"/>
          </a:p>
        </p:txBody>
      </p:sp>
      <p:pic>
        <p:nvPicPr>
          <p:cNvPr id="12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6846" y="1755648"/>
            <a:ext cx="2379427" cy="1920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3730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Enthält: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4632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</a:rPr>
              <a:t>• Rad (Polyurethan-Soft)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</a:rPr>
              <a:t>• Radachse (Stahl)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</a:rPr>
              <a:t>• Kugellager × 2 (AISI 410 SS)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</a:rPr>
              <a:t>• Hex Cap Nut M8×1 · Washer ISO 7089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GESAMTBAUGRUPPE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Gesamtbaugruppe – Assembly Design</a:t>
            </a:r>
            <a:endParaRPr lang="en-US" sz="28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2154511"/>
            <a:ext cx="5303520" cy="18083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298448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36245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Methodik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Bottom-Up: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Einzelteile → Unterbaugruppen → Gesamtbaugruppe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06440" y="2176272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2402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Zwangsbedingungen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Flush, Touch, Align-Constraints für korrekte Lage aller Bauteile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3054096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31181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Stückliste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16 Positionen inkl. Normteile,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2 Unterbaugruppen automatisch generiert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39319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399592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Gesamtmasse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Skateboard_Platte: 944g (Maple)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Achse: 119g · Rad: 72g · gesamt ca. 1.8 kg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— MONTAGE / DEMONTAGE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Montage- &amp; Demontagesequenz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5029200" cy="3017520"/>
          </a:xfrm>
          <a:prstGeom prst="roundRect">
            <a:avLst>
              <a:gd name="adj" fmla="val 3030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4315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NX Sequencing – Montageanimation (Video verfügbar)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  <p:pic>
        <p:nvPicPr>
          <p:cNvPr id="29" name="Assembly11">
            <a:hlinkClick r:id="" action="ppaction://media"/>
            <a:extLst>
              <a:ext uri="{FF2B5EF4-FFF2-40B4-BE49-F238E27FC236}">
                <a16:creationId xmlns:a16="http://schemas.microsoft.com/office/drawing/2014/main" id="{82BE35B2-C981-E5EE-7245-BB1B31616B4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4509" y="1349011"/>
            <a:ext cx="4900261" cy="2916393"/>
          </a:xfrm>
          <a:prstGeom prst="rect">
            <a:avLst/>
          </a:prstGeom>
        </p:spPr>
      </p:pic>
      <p:sp>
        <p:nvSpPr>
          <p:cNvPr id="47" name="Shape 3">
            <a:extLst>
              <a:ext uri="{FF2B5EF4-FFF2-40B4-BE49-F238E27FC236}">
                <a16:creationId xmlns:a16="http://schemas.microsoft.com/office/drawing/2014/main" id="{53B8466F-C7CA-C4D8-ABBB-3F2878BDC688}"/>
              </a:ext>
            </a:extLst>
          </p:cNvPr>
          <p:cNvSpPr/>
          <p:nvPr/>
        </p:nvSpPr>
        <p:spPr>
          <a:xfrm>
            <a:off x="5806440" y="1298448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C65676E5-90B1-7ABE-2CAC-677E399D2A61}"/>
              </a:ext>
            </a:extLst>
          </p:cNvPr>
          <p:cNvSpPr/>
          <p:nvPr/>
        </p:nvSpPr>
        <p:spPr>
          <a:xfrm>
            <a:off x="5943600" y="136245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Was </a:t>
            </a:r>
            <a:r>
              <a:rPr lang="en-US" sz="1000" b="1" dirty="0" err="1">
                <a:solidFill>
                  <a:srgbClr val="E8821A"/>
                </a:solidFill>
              </a:rPr>
              <a:t>ist</a:t>
            </a:r>
            <a:r>
              <a:rPr lang="en-US" sz="1000" b="1" dirty="0">
                <a:solidFill>
                  <a:srgbClr val="E8821A"/>
                </a:solidFill>
              </a:rPr>
              <a:t> NX Sequencing?</a:t>
            </a:r>
            <a:endParaRPr lang="en-US" sz="10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8FA8CC"/>
                </a:solidFill>
              </a:rPr>
              <a:t>Werkzeug</a:t>
            </a:r>
            <a:r>
              <a:rPr lang="en-US" sz="900" dirty="0">
                <a:solidFill>
                  <a:srgbClr val="8FA8CC"/>
                </a:solidFill>
              </a:rPr>
              <a:t> in NX </a:t>
            </a:r>
            <a:r>
              <a:rPr lang="en-US" sz="900" dirty="0" err="1">
                <a:solidFill>
                  <a:srgbClr val="8FA8CC"/>
                </a:solidFill>
              </a:rPr>
              <a:t>zur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animierten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Darstellung</a:t>
            </a:r>
            <a:r>
              <a:rPr lang="en-US" sz="900" dirty="0">
                <a:solidFill>
                  <a:srgbClr val="8FA8CC"/>
                </a:solidFill>
              </a:rPr>
              <a:t> von Montage- und </a:t>
            </a:r>
            <a:r>
              <a:rPr lang="en-US" sz="900" dirty="0" err="1">
                <a:solidFill>
                  <a:srgbClr val="8FA8CC"/>
                </a:solidFill>
              </a:rPr>
              <a:t>Demontageprozessen</a:t>
            </a:r>
            <a:r>
              <a:rPr lang="en-US" sz="900" dirty="0">
                <a:solidFill>
                  <a:srgbClr val="8FA8CC"/>
                </a:solidFill>
              </a:rPr>
              <a:t> — </a:t>
            </a:r>
            <a:r>
              <a:rPr lang="en-US" sz="900" dirty="0" err="1">
                <a:solidFill>
                  <a:srgbClr val="8FA8CC"/>
                </a:solidFill>
              </a:rPr>
              <a:t>Bauteile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bewegen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sich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entlang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ihres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realen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Einbauwegs</a:t>
            </a:r>
            <a:r>
              <a:rPr lang="en-US" sz="900" dirty="0">
                <a:solidFill>
                  <a:srgbClr val="8FA8CC"/>
                </a:solidFill>
              </a:rPr>
              <a:t>.</a:t>
            </a:r>
            <a:endParaRPr lang="en-US" sz="900" dirty="0"/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E3BD1384-4B34-4B7A-513C-D3FDA9E9128B}"/>
              </a:ext>
            </a:extLst>
          </p:cNvPr>
          <p:cNvSpPr/>
          <p:nvPr/>
        </p:nvSpPr>
        <p:spPr>
          <a:xfrm>
            <a:off x="5806440" y="2176272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6558F2FB-4A37-9258-CE24-0A9423680465}"/>
              </a:ext>
            </a:extLst>
          </p:cNvPr>
          <p:cNvSpPr/>
          <p:nvPr/>
        </p:nvSpPr>
        <p:spPr>
          <a:xfrm>
            <a:off x="5806440" y="3054096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D2715CBA-C3A4-FE9E-7B63-A792B40E15ED}"/>
              </a:ext>
            </a:extLst>
          </p:cNvPr>
          <p:cNvSpPr/>
          <p:nvPr/>
        </p:nvSpPr>
        <p:spPr>
          <a:xfrm>
            <a:off x="5943600" y="31181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821A"/>
                </a:solidFill>
              </a:rPr>
              <a:t>Was </a:t>
            </a:r>
            <a:r>
              <a:rPr lang="en-US" sz="1000" b="1" dirty="0" err="1">
                <a:solidFill>
                  <a:srgbClr val="E8821A"/>
                </a:solidFill>
              </a:rPr>
              <a:t>zeigt</a:t>
            </a:r>
            <a:r>
              <a:rPr lang="en-US" sz="1000" b="1" dirty="0">
                <a:solidFill>
                  <a:srgbClr val="E8821A"/>
                </a:solidFill>
              </a:rPr>
              <a:t> das Video?</a:t>
            </a:r>
            <a:endParaRPr lang="en-US" sz="10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8FA8CC"/>
                </a:solidFill>
              </a:rPr>
              <a:t>Vollständige</a:t>
            </a:r>
            <a:r>
              <a:rPr lang="en-US" sz="900" dirty="0">
                <a:solidFill>
                  <a:srgbClr val="8FA8CC"/>
                </a:solidFill>
              </a:rPr>
              <a:t> Montage — von der Skateboard Platte </a:t>
            </a:r>
            <a:r>
              <a:rPr lang="en-US" sz="900" dirty="0" err="1">
                <a:solidFill>
                  <a:srgbClr val="8FA8CC"/>
                </a:solidFill>
              </a:rPr>
              <a:t>als</a:t>
            </a:r>
            <a:r>
              <a:rPr lang="en-US" sz="900" dirty="0">
                <a:solidFill>
                  <a:srgbClr val="8FA8CC"/>
                </a:solidFill>
              </a:rPr>
              <a:t> Basis bis </a:t>
            </a:r>
            <a:r>
              <a:rPr lang="en-US" sz="900" dirty="0" err="1">
                <a:solidFill>
                  <a:srgbClr val="8FA8CC"/>
                </a:solidFill>
              </a:rPr>
              <a:t>zur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fertigen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Baugruppe</a:t>
            </a:r>
            <a:r>
              <a:rPr lang="en-US" sz="900" dirty="0">
                <a:solidFill>
                  <a:srgbClr val="8FA8CC"/>
                </a:solidFill>
              </a:rPr>
              <a:t>.</a:t>
            </a:r>
            <a:endParaRPr lang="en-US" sz="900" dirty="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4CB860F8-6CEB-D078-5B28-A5E709ADE8F2}"/>
              </a:ext>
            </a:extLst>
          </p:cNvPr>
          <p:cNvSpPr/>
          <p:nvPr/>
        </p:nvSpPr>
        <p:spPr>
          <a:xfrm>
            <a:off x="5806440" y="39319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2DCB36F4-8CCB-7D15-ABDE-CF97811D151F}"/>
              </a:ext>
            </a:extLst>
          </p:cNvPr>
          <p:cNvSpPr/>
          <p:nvPr/>
        </p:nvSpPr>
        <p:spPr>
          <a:xfrm>
            <a:off x="5943600" y="399592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E8821A"/>
                </a:solidFill>
              </a:rPr>
              <a:t>Nutzen</a:t>
            </a:r>
            <a:endParaRPr lang="en-US" sz="10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8FA8CC"/>
                </a:solidFill>
              </a:rPr>
              <a:t>Deckt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Kollisionen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im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Montagepfad</a:t>
            </a:r>
            <a:r>
              <a:rPr lang="en-US" sz="900" dirty="0">
                <a:solidFill>
                  <a:srgbClr val="8FA8CC"/>
                </a:solidFill>
              </a:rPr>
              <a:t> auf, die </a:t>
            </a:r>
            <a:r>
              <a:rPr lang="en-US" sz="900" dirty="0" err="1">
                <a:solidFill>
                  <a:srgbClr val="8FA8CC"/>
                </a:solidFill>
              </a:rPr>
              <a:t>bei</a:t>
            </a:r>
            <a:r>
              <a:rPr lang="en-US" sz="900" dirty="0">
                <a:solidFill>
                  <a:srgbClr val="8FA8CC"/>
                </a:solidFill>
              </a:rPr>
              <a:t> der </a:t>
            </a:r>
            <a:r>
              <a:rPr lang="en-US" sz="900" dirty="0" err="1">
                <a:solidFill>
                  <a:srgbClr val="8FA8CC"/>
                </a:solidFill>
              </a:rPr>
              <a:t>statischen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Prüfung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nicht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sichtbar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sind</a:t>
            </a:r>
            <a:r>
              <a:rPr lang="en-US" sz="900" dirty="0">
                <a:solidFill>
                  <a:srgbClr val="8FA8CC"/>
                </a:solidFill>
              </a:rPr>
              <a:t>.</a:t>
            </a:r>
            <a:endParaRPr lang="en-US" sz="1050" dirty="0"/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0ADADDD7-2AF1-C0A7-EA89-E1C6A41D2648}"/>
              </a:ext>
            </a:extLst>
          </p:cNvPr>
          <p:cNvSpPr/>
          <p:nvPr/>
        </p:nvSpPr>
        <p:spPr>
          <a:xfrm>
            <a:off x="5943600" y="22402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E8821A"/>
                </a:solidFill>
              </a:rPr>
              <a:t>Warum</a:t>
            </a:r>
            <a:r>
              <a:rPr lang="en-US" sz="1000" b="1" dirty="0">
                <a:solidFill>
                  <a:srgbClr val="E8821A"/>
                </a:solidFill>
              </a:rPr>
              <a:t> </a:t>
            </a:r>
            <a:r>
              <a:rPr lang="en-US" sz="1000" b="1" dirty="0" err="1">
                <a:solidFill>
                  <a:srgbClr val="E8821A"/>
                </a:solidFill>
              </a:rPr>
              <a:t>verwendet</a:t>
            </a:r>
            <a:r>
              <a:rPr lang="en-US" sz="1000" b="1" dirty="0">
                <a:solidFill>
                  <a:srgbClr val="E8821A"/>
                </a:solidFill>
              </a:rPr>
              <a:t>?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FA8CC"/>
                </a:solidFill>
              </a:rPr>
              <a:t>Bei 16 </a:t>
            </a:r>
            <a:r>
              <a:rPr lang="en-US" sz="900" dirty="0" err="1">
                <a:solidFill>
                  <a:srgbClr val="8FA8CC"/>
                </a:solidFill>
              </a:rPr>
              <a:t>Positionen</a:t>
            </a:r>
            <a:r>
              <a:rPr lang="en-US" sz="900" dirty="0">
                <a:solidFill>
                  <a:srgbClr val="8FA8CC"/>
                </a:solidFill>
              </a:rPr>
              <a:t> und 2 </a:t>
            </a:r>
            <a:r>
              <a:rPr lang="en-US" sz="900" dirty="0" err="1">
                <a:solidFill>
                  <a:srgbClr val="8FA8CC"/>
                </a:solidFill>
              </a:rPr>
              <a:t>Unterbaugruppen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macht</a:t>
            </a:r>
            <a:r>
              <a:rPr lang="en-US" sz="900" dirty="0">
                <a:solidFill>
                  <a:srgbClr val="8FA8CC"/>
                </a:solidFill>
              </a:rPr>
              <a:t> die Animation die </a:t>
            </a:r>
            <a:r>
              <a:rPr lang="en-US" sz="900" dirty="0" err="1">
                <a:solidFill>
                  <a:srgbClr val="8FA8CC"/>
                </a:solidFill>
              </a:rPr>
              <a:t>Montagereihenfolge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klarer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als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jede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statische</a:t>
            </a:r>
            <a:r>
              <a:rPr lang="en-US" sz="900" dirty="0">
                <a:solidFill>
                  <a:srgbClr val="8FA8CC"/>
                </a:solidFill>
              </a:rPr>
              <a:t> </a:t>
            </a:r>
            <a:r>
              <a:rPr lang="en-US" sz="900" dirty="0" err="1">
                <a:solidFill>
                  <a:srgbClr val="8FA8CC"/>
                </a:solidFill>
              </a:rPr>
              <a:t>Darstellung</a:t>
            </a:r>
            <a:r>
              <a:rPr lang="en-US" sz="900" dirty="0">
                <a:solidFill>
                  <a:srgbClr val="8FA8CC"/>
                </a:solidFill>
              </a:rPr>
              <a:t>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416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EXPLOSIONSDARSTELLUNG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Explosionsdarstellung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6217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8CC"/>
                </a:solidFill>
              </a:rPr>
              <a:t>[ Bild: Explosionsdarstellung 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20840" y="1298448"/>
            <a:ext cx="2103120" cy="3520440"/>
          </a:xfrm>
          <a:prstGeom prst="roundRect">
            <a:avLst>
              <a:gd name="adj" fmla="val 4348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12280" y="13898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21A"/>
                </a:solidFill>
              </a:rPr>
              <a:t>Montagepfad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12280" y="163677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6E4F7"/>
                </a:solidFill>
              </a:rPr>
              <a:t>Jedes Bauteil entlang seines Einbauwegs explodiert — Reihenfolge direkt ablesbar.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12280" y="2194560"/>
            <a:ext cx="1920240" cy="0"/>
          </a:xfrm>
          <a:prstGeom prst="line">
            <a:avLst/>
          </a:prstGeom>
          <a:noFill/>
          <a:ln w="9525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2402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21A"/>
                </a:solidFill>
              </a:rPr>
              <a:t>Unterbaugruppen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12280" y="24871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6E4F7"/>
                </a:solidFill>
              </a:rPr>
              <a:t>Achse- &amp; Rad-Baugruppe erscheinen vorgebaut — werden als Einheit ans Deck montiert.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12280" y="3044952"/>
            <a:ext cx="1920240" cy="0"/>
          </a:xfrm>
          <a:prstGeom prst="line">
            <a:avLst/>
          </a:prstGeom>
          <a:noFill/>
          <a:ln w="952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0906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21A"/>
                </a:solidFill>
              </a:rPr>
              <a:t>Normteile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12280" y="33375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6E4F7"/>
                </a:solidFill>
              </a:rPr>
              <a:t>Schrauben, Muttern &amp; Unterlegscheiben nach DIN/ISO aus der NX-Bibliothek.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3895344"/>
            <a:ext cx="1920240" cy="0"/>
          </a:xfrm>
          <a:prstGeom prst="line">
            <a:avLst/>
          </a:prstGeom>
          <a:noFill/>
          <a:ln w="9525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94106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21A"/>
                </a:solidFill>
              </a:rPr>
              <a:t>Stückliste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12280" y="418795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6E4F7"/>
                </a:solidFill>
              </a:rPr>
              <a:t>16 Positionen inkl. Masse &amp; Material — automatisch generiert.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A3145A-9777-BC3C-9185-D3EB0753E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34" y="1143000"/>
            <a:ext cx="4826265" cy="36679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— ZEICHNUNGSABLEITUNG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Zeichnungsableitung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7022" y="1387275"/>
            <a:ext cx="2549236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 err="1">
                <a:solidFill>
                  <a:srgbClr val="1B2A4A"/>
                </a:solidFill>
              </a:rPr>
              <a:t>Unterbaugruppe</a:t>
            </a:r>
            <a:r>
              <a:rPr lang="en-US" sz="900" i="1" dirty="0">
                <a:solidFill>
                  <a:srgbClr val="1B2A4A"/>
                </a:solidFill>
              </a:rPr>
              <a:t> – Achse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46120" y="1298448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48658" y="1387275"/>
            <a:ext cx="2538123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61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 err="1">
                <a:solidFill>
                  <a:srgbClr val="1B2A4A"/>
                </a:solidFill>
              </a:rPr>
              <a:t>Unterbaugruppe</a:t>
            </a:r>
            <a:r>
              <a:rPr lang="en-US" sz="900" i="1" dirty="0">
                <a:solidFill>
                  <a:srgbClr val="1B2A4A"/>
                </a:solidFill>
              </a:rPr>
              <a:t> – Rad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172200" y="1298448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/tmp/asm_haupt-1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371600"/>
            <a:ext cx="2651760" cy="1828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2A4A"/>
                </a:solidFill>
              </a:rPr>
              <a:t>Hauptbaugruppe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20040" y="36118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57200" y="37033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21A"/>
                </a:solidFill>
              </a:rPr>
              <a:t>6 Einzelteil-Zeichnungen
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</a:rPr>
              <a:t>Achse · Auflager · Skateboard Platte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</a:rPr>
              <a:t>Rad · Radachse · Gummibuchse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</a:rPr>
              <a:t>Je mit Ansichten, Schnitten, Toleranzen, Schriftfeld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36118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846320" y="37033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21A"/>
                </a:solidFill>
              </a:rPr>
              <a:t>Baugruppen-Zeichnungen
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</a:rPr>
              <a:t>Achse-Baugruppe · Rad-Baugruppe · Hauptbaugruppe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</a:rPr>
              <a:t>Explosionsdarstellung mit 16 Pos. &amp; Stückliste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</a:rPr>
              <a:t>Alle Zeichnungen als PDF gesichert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28600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— QUALITÄTSSICHERUNG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Kollisionsprüfung &amp; Klon-Baugruppe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21A"/>
                </a:solidFill>
              </a:rPr>
              <a:t>Kollisionsprüfung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6E4F7"/>
                </a:solidFill>
              </a:rPr>
              <a:t>Was wurde geprüft
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8FA8CC"/>
                </a:solidFill>
              </a:rPr>
              <a:t>Kollisionsprüfung über alle Bauteile und Unterbaugruppen der Gesamtbaugruppe in NX durchgeführt.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6E4F7"/>
                </a:solidFill>
              </a:rPr>
              <a:t>Ergebnis
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8FA8CC"/>
                </a:solidFill>
              </a:rPr>
              <a:t>Keine unerwünschten Penetrationen. Berührungen treten ausschließlich an Gewindeverbindungen und definierten Kontaktflächen auf — erwartetes Verhalten.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6E4F7"/>
                </a:solidFill>
              </a:rPr>
              <a:t>Dokumentation
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8FA8CC"/>
                </a:solidFill>
              </a:rPr>
              <a:t>Alle Zwangsbedingungen (Touch, Flush, Align) geometrisch korrekt. Ergebnis als HTML-Datei exportiert.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29844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89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21A"/>
                </a:solidFill>
              </a:rPr>
              <a:t>Klon-Baugruppe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6E4F7"/>
                </a:solidFill>
              </a:rPr>
              <a:t>Warum ein Klon?
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8FA8CC"/>
                </a:solidFill>
              </a:rPr>
              <a:t>NX-Baugruppen verweisen über absolute Dateipfade. Ohne Klon lässt sich die Baugruppe auf keinem anderen Rechner öffnen.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6E4F7"/>
                </a:solidFill>
              </a:rPr>
              <a:t>Was wurde gemacht
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8FA8CC"/>
                </a:solidFill>
              </a:rPr>
              <a:t>Clone Assembly in NX ausgeführt — alle Einzelteil- und Baugruppendateien mit neuen, portablen Pfaden im Projektordner gespeichert.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6E4F7"/>
                </a:solidFill>
              </a:rPr>
              <a:t>Ergebnis
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8FA8CC"/>
                </a:solidFill>
              </a:rPr>
              <a:t>Baugruppe öffnet fehlerfrei auf jedem Rechner. Alle Verweise aufgelöst, keine gebrochenen Links. Sicherungskopie auf lokalem PC abgelegt.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— AUSBLICK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Ausblick: FEM-Analyse &amp; Digital Twin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481328"/>
            <a:ext cx="384048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21A"/>
                </a:solidFill>
              </a:rPr>
              <a:t>FEM-Strukturanalyse
</a:t>
            </a:r>
            <a:endParaRPr lang="en-US" sz="1100" dirty="0"/>
          </a:p>
          <a:p>
            <a:pPr marL="0" indent="0">
              <a:buNone/>
            </a:pPr>
            <a:r>
              <a:rPr lang="de-DE" sz="900" dirty="0">
                <a:solidFill>
                  <a:srgbClr val="D6E4F7"/>
                </a:solidFill>
              </a:rPr>
              <a:t>NX-Modell direkt in </a:t>
            </a:r>
            <a:r>
              <a:rPr lang="de-DE" sz="900" dirty="0" err="1">
                <a:solidFill>
                  <a:srgbClr val="D6E4F7"/>
                </a:solidFill>
              </a:rPr>
              <a:t>Simcenter</a:t>
            </a:r>
            <a:r>
              <a:rPr lang="de-DE" sz="900" dirty="0">
                <a:solidFill>
                  <a:srgbClr val="D6E4F7"/>
                </a:solidFill>
              </a:rPr>
              <a:t> nutzbar — oder als STEP in </a:t>
            </a:r>
            <a:r>
              <a:rPr lang="de-DE" sz="900" dirty="0" err="1">
                <a:solidFill>
                  <a:srgbClr val="D6E4F7"/>
                </a:solidFill>
              </a:rPr>
              <a:t>Ansys</a:t>
            </a:r>
            <a:r>
              <a:rPr lang="de-DE" sz="900" dirty="0">
                <a:solidFill>
                  <a:srgbClr val="D6E4F7"/>
                </a:solidFill>
              </a:rPr>
              <a:t> / Abaqus Student </a:t>
            </a:r>
            <a:r>
              <a:rPr lang="de-DE" sz="900" dirty="0" err="1">
                <a:solidFill>
                  <a:srgbClr val="D6E4F7"/>
                </a:solidFill>
              </a:rPr>
              <a:t>importierbar</a:t>
            </a:r>
            <a:r>
              <a:rPr lang="en-US" sz="900" dirty="0">
                <a:solidFill>
                  <a:srgbClr val="D6E4F7"/>
                </a:solidFill>
              </a:rPr>
              <a:t>: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Biegesteifigkeit der Skateboard Platte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Spannungen Achse &amp; Auflager beim Manöver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Verformung Gummibuchse unter Querlast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Schnell debuggbar dank überschaubarer Komplexität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481328"/>
            <a:ext cx="384048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21A"/>
                </a:solidFill>
              </a:rPr>
              <a:t>Materialvarianten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Dank vollständig bemaßter Einzelteile können Varianten einfach geprüft werden: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Holz → CFK für Platte (Gewichtsreduktion)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Aluminium vs. Stahl für Achse &amp; Auflager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Polyurethan-Hart vs. -Soft für Rad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Ergebnisvergleich ohne neues Modell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315468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3264408"/>
            <a:ext cx="384048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21A"/>
                </a:solidFill>
              </a:rPr>
              <a:t>Digital Twin Konzept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Das vollständige 3D-Modell als Grundlage: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Sensordaten (Beschleunigung, Last) → Live-Simulation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Verschleiß Kugellager &amp; Gummibuchse vorhersagen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Wartungsintervalle datenbasiert planen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Demonstrierbar mit NX + Simcenter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15468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2237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3264408"/>
            <a:ext cx="384048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21A"/>
                </a:solidFill>
              </a:rPr>
              <a:t>Warum dieses Modell ideal ist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Klare Lastpfade → FEM-Ergebnisse gut interpretierbar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Alltagsbezug → Ergebnisse leicht zu validieren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Einfach zu skalieren: Studentenversion → Industrie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6E4F7"/>
                </a:solidFill>
              </a:rPr>
              <a:t>• </a:t>
            </a:r>
            <a:r>
              <a:rPr lang="de-DE" sz="900" dirty="0">
                <a:solidFill>
                  <a:srgbClr val="D6E4F7"/>
                </a:solidFill>
              </a:rPr>
              <a:t>Grundlage für weiterführende CAE- und Simulationsprojekte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73152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 für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Ihre Aufmerksamkeit!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4389120" cy="0"/>
          </a:xfrm>
          <a:prstGeom prst="line">
            <a:avLst/>
          </a:prstGeom>
          <a:noFill/>
          <a:ln w="19050">
            <a:solidFill>
              <a:srgbClr val="E88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Praveen Venkatesh Sethumadhavan Vasan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FA8CC"/>
                </a:solidFill>
              </a:rPr>
              <a:t>Projektarbeit CAD – Siemens NX 2412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FA8CC"/>
                </a:solidFill>
              </a:rPr>
              <a:t>alfatraining Bildungszentrum GmbH, Essen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FA8CC"/>
                </a:solidFill>
              </a:rPr>
              <a:t>Dozent: Michael Böckle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FA8CC"/>
                </a:solidFill>
              </a:rPr>
              <a:t>11.05.2026 – 03.07.2026</a:t>
            </a:r>
            <a:endParaRPr lang="en-US" sz="12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1384507"/>
            <a:ext cx="3840480" cy="23516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82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</Words>
  <Application>Microsoft Office PowerPoint</Application>
  <PresentationFormat>Bildschirmpräsentation (16:9)</PresentationFormat>
  <Paragraphs>182</Paragraphs>
  <Slides>13</Slides>
  <Notes>13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Projektarbeit Skateboard – Siemens NX 2412</dc:title>
  <dc:subject>PptxGenJS Presentation</dc:subject>
  <dc:creator>Praveen Venkatesh Sethumadhavan Vasan</dc:creator>
  <cp:lastModifiedBy>Alfa</cp:lastModifiedBy>
  <cp:revision>12</cp:revision>
  <dcterms:created xsi:type="dcterms:W3CDTF">2026-07-01T10:23:56Z</dcterms:created>
  <dcterms:modified xsi:type="dcterms:W3CDTF">2026-07-01T16:26:12Z</dcterms:modified>
</cp:coreProperties>
</file>